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2"/>
  </p:notesMasterIdLst>
  <p:sldIdLst>
    <p:sldId id="256" r:id="rId2"/>
    <p:sldId id="259" r:id="rId3"/>
    <p:sldId id="296" r:id="rId4"/>
    <p:sldId id="297" r:id="rId5"/>
    <p:sldId id="300" r:id="rId6"/>
    <p:sldId id="298" r:id="rId7"/>
    <p:sldId id="301" r:id="rId8"/>
    <p:sldId id="303" r:id="rId9"/>
    <p:sldId id="302" r:id="rId10"/>
    <p:sldId id="299" r:id="rId11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DM Sans Medium" pitchFamily="2" charset="0"/>
      <p:regular r:id="rId18"/>
      <p:bold r:id="rId19"/>
      <p:italic r:id="rId20"/>
      <p:boldItalic r:id="rId21"/>
    </p:embeddedFont>
    <p:embeddedFont>
      <p:font typeface="Gill Sans MT" panose="020B0502020104020203" pitchFamily="34" charset="0"/>
      <p:regular r:id="rId22"/>
      <p:bold r:id="rId23"/>
      <p:italic r:id="rId24"/>
      <p:boldItalic r:id="rId25"/>
    </p:embeddedFont>
    <p:embeddedFont>
      <p:font typeface="Microsoft YaHei" panose="020B0503020204020204" pitchFamily="34" charset="-122"/>
      <p:regular r:id="rId26"/>
      <p:bold r:id="rId27"/>
    </p:embeddedFont>
    <p:embeddedFont>
      <p:font typeface="Playfair Display Medium" panose="020B0604020202020204" charset="0"/>
      <p:regular r:id="rId28"/>
      <p:bold r:id="rId29"/>
      <p:italic r:id="rId30"/>
      <p:boldItalic r:id="rId31"/>
    </p:embeddedFont>
    <p:embeddedFont>
      <p:font typeface="Segoe UI Black" panose="020B0A02040204020203" pitchFamily="34" charset="0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584AE2-74BD-4D47-A5FE-4B4469B0A5C7}" v="41" dt="2026-01-10T10:31:43.873"/>
  </p1510:revLst>
</p1510:revInfo>
</file>

<file path=ppt/tableStyles.xml><?xml version="1.0" encoding="utf-8"?>
<a:tblStyleLst xmlns:a="http://schemas.openxmlformats.org/drawingml/2006/main" def="{5BF7ACDD-E983-46DB-BFA0-FC0EA37746D8}">
  <a:tblStyle styleId="{5BF7ACDD-E983-46DB-BFA0-FC0EA37746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AE617D5-EDCC-4C2A-9D0C-C92A4527BF9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microsoft.com/office/2015/10/relationships/revisionInfo" Target="revisionInfo.xml"/><Relationship Id="rId21" Type="http://schemas.openxmlformats.org/officeDocument/2006/relationships/font" Target="fonts/font9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daishwarya02@outlook.com" userId="6336e18f6fba9ba1" providerId="LiveId" clId="{2E06E993-8EC4-4E4A-99AF-69D7B898EFB9}"/>
    <pc:docChg chg="undo custSel modSld">
      <pc:chgData name="prasadaishwarya02@outlook.com" userId="6336e18f6fba9ba1" providerId="LiveId" clId="{2E06E993-8EC4-4E4A-99AF-69D7B898EFB9}" dt="2026-01-10T10:33:23.310" v="427" actId="6549"/>
      <pc:docMkLst>
        <pc:docMk/>
      </pc:docMkLst>
      <pc:sldChg chg="modSp mod">
        <pc:chgData name="prasadaishwarya02@outlook.com" userId="6336e18f6fba9ba1" providerId="LiveId" clId="{2E06E993-8EC4-4E4A-99AF-69D7B898EFB9}" dt="2026-01-10T10:29:05.668" v="377" actId="20577"/>
        <pc:sldMkLst>
          <pc:docMk/>
          <pc:sldMk cId="0" sldId="256"/>
        </pc:sldMkLst>
        <pc:spChg chg="mod">
          <ac:chgData name="prasadaishwarya02@outlook.com" userId="6336e18f6fba9ba1" providerId="LiveId" clId="{2E06E993-8EC4-4E4A-99AF-69D7B898EFB9}" dt="2026-01-10T09:52:49.405" v="79" actId="403"/>
          <ac:spMkLst>
            <pc:docMk/>
            <pc:sldMk cId="0" sldId="256"/>
            <ac:spMk id="174" creationId="{00000000-0000-0000-0000-000000000000}"/>
          </ac:spMkLst>
        </pc:spChg>
        <pc:spChg chg="mod">
          <ac:chgData name="prasadaishwarya02@outlook.com" userId="6336e18f6fba9ba1" providerId="LiveId" clId="{2E06E993-8EC4-4E4A-99AF-69D7B898EFB9}" dt="2026-01-10T10:29:05.668" v="377" actId="20577"/>
          <ac:spMkLst>
            <pc:docMk/>
            <pc:sldMk cId="0" sldId="256"/>
            <ac:spMk id="175" creationId="{00000000-0000-0000-0000-000000000000}"/>
          </ac:spMkLst>
        </pc:spChg>
        <pc:spChg chg="mod">
          <ac:chgData name="prasadaishwarya02@outlook.com" userId="6336e18f6fba9ba1" providerId="LiveId" clId="{2E06E993-8EC4-4E4A-99AF-69D7B898EFB9}" dt="2026-01-10T09:48:13.125" v="23" actId="1037"/>
          <ac:spMkLst>
            <pc:docMk/>
            <pc:sldMk cId="0" sldId="256"/>
            <ac:spMk id="176" creationId="{00000000-0000-0000-0000-000000000000}"/>
          </ac:spMkLst>
        </pc:spChg>
      </pc:sldChg>
      <pc:sldChg chg="addSp delSp modSp mod">
        <pc:chgData name="prasadaishwarya02@outlook.com" userId="6336e18f6fba9ba1" providerId="LiveId" clId="{2E06E993-8EC4-4E4A-99AF-69D7B898EFB9}" dt="2026-01-10T10:00:16.424" v="150" actId="6549"/>
        <pc:sldMkLst>
          <pc:docMk/>
          <pc:sldMk cId="0" sldId="259"/>
        </pc:sldMkLst>
        <pc:spChg chg="add del mod">
          <ac:chgData name="prasadaishwarya02@outlook.com" userId="6336e18f6fba9ba1" providerId="LiveId" clId="{2E06E993-8EC4-4E4A-99AF-69D7B898EFB9}" dt="2026-01-10T09:56:24.317" v="137" actId="478"/>
          <ac:spMkLst>
            <pc:docMk/>
            <pc:sldMk cId="0" sldId="259"/>
            <ac:spMk id="2" creationId="{BEF018DE-0C4A-A9A9-E085-BEEA8481C9BC}"/>
          </ac:spMkLst>
        </pc:spChg>
        <pc:spChg chg="mod">
          <ac:chgData name="prasadaishwarya02@outlook.com" userId="6336e18f6fba9ba1" providerId="LiveId" clId="{2E06E993-8EC4-4E4A-99AF-69D7B898EFB9}" dt="2026-01-10T09:54:57.778" v="130" actId="20577"/>
          <ac:spMkLst>
            <pc:docMk/>
            <pc:sldMk cId="0" sldId="259"/>
            <ac:spMk id="207" creationId="{00000000-0000-0000-0000-000000000000}"/>
          </ac:spMkLst>
        </pc:spChg>
        <pc:spChg chg="mod">
          <ac:chgData name="prasadaishwarya02@outlook.com" userId="6336e18f6fba9ba1" providerId="LiveId" clId="{2E06E993-8EC4-4E4A-99AF-69D7B898EFB9}" dt="2026-01-10T10:00:16.424" v="150" actId="6549"/>
          <ac:spMkLst>
            <pc:docMk/>
            <pc:sldMk cId="0" sldId="259"/>
            <ac:spMk id="208" creationId="{00000000-0000-0000-0000-000000000000}"/>
          </ac:spMkLst>
        </pc:spChg>
      </pc:sldChg>
      <pc:sldChg chg="modSp mod">
        <pc:chgData name="prasadaishwarya02@outlook.com" userId="6336e18f6fba9ba1" providerId="LiveId" clId="{2E06E993-8EC4-4E4A-99AF-69D7B898EFB9}" dt="2026-01-10T10:32:41.115" v="417" actId="20577"/>
        <pc:sldMkLst>
          <pc:docMk/>
          <pc:sldMk cId="1163868350" sldId="296"/>
        </pc:sldMkLst>
        <pc:spChg chg="mod">
          <ac:chgData name="prasadaishwarya02@outlook.com" userId="6336e18f6fba9ba1" providerId="LiveId" clId="{2E06E993-8EC4-4E4A-99AF-69D7B898EFB9}" dt="2026-01-10T10:01:25.612" v="184" actId="20577"/>
          <ac:spMkLst>
            <pc:docMk/>
            <pc:sldMk cId="1163868350" sldId="296"/>
            <ac:spMk id="207" creationId="{D5A4E8E2-E43D-28D5-5427-450DCE5DEA88}"/>
          </ac:spMkLst>
        </pc:spChg>
        <pc:spChg chg="mod">
          <ac:chgData name="prasadaishwarya02@outlook.com" userId="6336e18f6fba9ba1" providerId="LiveId" clId="{2E06E993-8EC4-4E4A-99AF-69D7B898EFB9}" dt="2026-01-10T10:32:41.115" v="417" actId="20577"/>
          <ac:spMkLst>
            <pc:docMk/>
            <pc:sldMk cId="1163868350" sldId="296"/>
            <ac:spMk id="208" creationId="{C659E820-5C4D-A35E-EAF7-F7A4AC0190B0}"/>
          </ac:spMkLst>
        </pc:spChg>
      </pc:sldChg>
      <pc:sldChg chg="addSp delSp modSp mod">
        <pc:chgData name="prasadaishwarya02@outlook.com" userId="6336e18f6fba9ba1" providerId="LiveId" clId="{2E06E993-8EC4-4E4A-99AF-69D7B898EFB9}" dt="2026-01-10T10:33:23.310" v="427" actId="6549"/>
        <pc:sldMkLst>
          <pc:docMk/>
          <pc:sldMk cId="3587503569" sldId="297"/>
        </pc:sldMkLst>
        <pc:spChg chg="add mod">
          <ac:chgData name="prasadaishwarya02@outlook.com" userId="6336e18f6fba9ba1" providerId="LiveId" clId="{2E06E993-8EC4-4E4A-99AF-69D7B898EFB9}" dt="2026-01-10T10:33:23.310" v="427" actId="6549"/>
          <ac:spMkLst>
            <pc:docMk/>
            <pc:sldMk cId="3587503569" sldId="297"/>
            <ac:spMk id="3" creationId="{2E742D3E-CACC-25CF-B98F-6C65C9BB5C2D}"/>
          </ac:spMkLst>
        </pc:spChg>
        <pc:spChg chg="del">
          <ac:chgData name="prasadaishwarya02@outlook.com" userId="6336e18f6fba9ba1" providerId="LiveId" clId="{2E06E993-8EC4-4E4A-99AF-69D7B898EFB9}" dt="2026-01-10T10:21:58.364" v="237" actId="478"/>
          <ac:spMkLst>
            <pc:docMk/>
            <pc:sldMk cId="3587503569" sldId="297"/>
            <ac:spMk id="11" creationId="{36995F56-3028-AFA2-5327-79CFDAE948A2}"/>
          </ac:spMkLst>
        </pc:spChg>
        <pc:spChg chg="mod">
          <ac:chgData name="prasadaishwarya02@outlook.com" userId="6336e18f6fba9ba1" providerId="LiveId" clId="{2E06E993-8EC4-4E4A-99AF-69D7B898EFB9}" dt="2026-01-10T10:22:05.175" v="238" actId="14100"/>
          <ac:spMkLst>
            <pc:docMk/>
            <pc:sldMk cId="3587503569" sldId="297"/>
            <ac:spMk id="207" creationId="{B26094E0-F078-2252-BCFF-6BDF1919EE1D}"/>
          </ac:spMkLst>
        </pc:spChg>
        <pc:graphicFrameChg chg="del">
          <ac:chgData name="prasadaishwarya02@outlook.com" userId="6336e18f6fba9ba1" providerId="LiveId" clId="{2E06E993-8EC4-4E4A-99AF-69D7B898EFB9}" dt="2026-01-10T10:21:53.675" v="236" actId="478"/>
          <ac:graphicFrameMkLst>
            <pc:docMk/>
            <pc:sldMk cId="3587503569" sldId="297"/>
            <ac:graphicFrameMk id="2" creationId="{033286E6-F4A0-AE07-AF6A-80BB4907DD79}"/>
          </ac:graphicFrameMkLst>
        </pc:graphicFrameChg>
      </pc:sldChg>
      <pc:sldChg chg="modSp mod">
        <pc:chgData name="prasadaishwarya02@outlook.com" userId="6336e18f6fba9ba1" providerId="LiveId" clId="{2E06E993-8EC4-4E4A-99AF-69D7B898EFB9}" dt="2026-01-10T10:23:59.448" v="306"/>
        <pc:sldMkLst>
          <pc:docMk/>
          <pc:sldMk cId="3585600873" sldId="298"/>
        </pc:sldMkLst>
        <pc:spChg chg="mod">
          <ac:chgData name="prasadaishwarya02@outlook.com" userId="6336e18f6fba9ba1" providerId="LiveId" clId="{2E06E993-8EC4-4E4A-99AF-69D7B898EFB9}" dt="2026-01-10T10:23:37.617" v="303" actId="14100"/>
          <ac:spMkLst>
            <pc:docMk/>
            <pc:sldMk cId="3585600873" sldId="298"/>
            <ac:spMk id="207" creationId="{694E5FBE-BCB5-D112-B9C6-5C452D339AB9}"/>
          </ac:spMkLst>
        </pc:spChg>
        <pc:spChg chg="mod">
          <ac:chgData name="prasadaishwarya02@outlook.com" userId="6336e18f6fba9ba1" providerId="LiveId" clId="{2E06E993-8EC4-4E4A-99AF-69D7B898EFB9}" dt="2026-01-10T10:23:59.448" v="306"/>
          <ac:spMkLst>
            <pc:docMk/>
            <pc:sldMk cId="3585600873" sldId="298"/>
            <ac:spMk id="208" creationId="{E7DE67E2-407B-495B-0273-B1937B7A1EEF}"/>
          </ac:spMkLst>
        </pc:spChg>
      </pc:sldChg>
      <pc:sldChg chg="modSp mod">
        <pc:chgData name="prasadaishwarya02@outlook.com" userId="6336e18f6fba9ba1" providerId="LiveId" clId="{2E06E993-8EC4-4E4A-99AF-69D7B898EFB9}" dt="2026-01-10T10:28:15.631" v="375" actId="1038"/>
        <pc:sldMkLst>
          <pc:docMk/>
          <pc:sldMk cId="244904134" sldId="299"/>
        </pc:sldMkLst>
        <pc:spChg chg="mod">
          <ac:chgData name="prasadaishwarya02@outlook.com" userId="6336e18f6fba9ba1" providerId="LiveId" clId="{2E06E993-8EC4-4E4A-99AF-69D7B898EFB9}" dt="2026-01-10T10:28:07.784" v="361" actId="1076"/>
          <ac:spMkLst>
            <pc:docMk/>
            <pc:sldMk cId="244904134" sldId="299"/>
            <ac:spMk id="3" creationId="{691A3FA2-E89F-4149-F4DA-5A0D491862C6}"/>
          </ac:spMkLst>
        </pc:spChg>
        <pc:spChg chg="mod">
          <ac:chgData name="prasadaishwarya02@outlook.com" userId="6336e18f6fba9ba1" providerId="LiveId" clId="{2E06E993-8EC4-4E4A-99AF-69D7B898EFB9}" dt="2026-01-10T10:28:15.631" v="375" actId="1038"/>
          <ac:spMkLst>
            <pc:docMk/>
            <pc:sldMk cId="244904134" sldId="299"/>
            <ac:spMk id="4" creationId="{9B4F398D-658D-0AA8-ADD5-4974A6E20C66}"/>
          </ac:spMkLst>
        </pc:spChg>
        <pc:spChg chg="mod">
          <ac:chgData name="prasadaishwarya02@outlook.com" userId="6336e18f6fba9ba1" providerId="LiveId" clId="{2E06E993-8EC4-4E4A-99AF-69D7B898EFB9}" dt="2026-01-10T10:27:52.482" v="359" actId="1076"/>
          <ac:spMkLst>
            <pc:docMk/>
            <pc:sldMk cId="244904134" sldId="299"/>
            <ac:spMk id="11" creationId="{5A4C8A58-502F-00ED-66CD-DB479CC6824E}"/>
          </ac:spMkLst>
        </pc:spChg>
        <pc:spChg chg="mod">
          <ac:chgData name="prasadaishwarya02@outlook.com" userId="6336e18f6fba9ba1" providerId="LiveId" clId="{2E06E993-8EC4-4E4A-99AF-69D7B898EFB9}" dt="2026-01-10T10:25:16.478" v="318" actId="404"/>
          <ac:spMkLst>
            <pc:docMk/>
            <pc:sldMk cId="244904134" sldId="299"/>
            <ac:spMk id="208" creationId="{42B1C404-FA32-98E8-5CB3-58EEBF819E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9877A894-6F27-73FB-8E26-B1349CFD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C29AB883-5119-4FF2-2DE1-FD914CEBC9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E92B1D53-80E1-DE9F-7C40-C5D86FB91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0350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B8A610BA-5B9D-DBA5-E72C-762FD44B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C74AAD7F-D0A3-2DAF-1B29-351C075158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1FA01C38-EACF-028D-53CE-E6850F448A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832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3896A45C-810C-D0E7-D29D-6CFF169E6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344E9BD1-64F0-3222-13BF-242A05246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15004BFB-6378-261F-AE69-934885F9C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72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C98DA474-D4D6-29CE-25E4-D750CF344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874863D2-EA39-5F36-C416-8A58CFDDB4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5177D2FD-57E3-44EB-0334-018350857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825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CA2F157F-7AD7-DB19-CD75-5C6BF9EB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AB4C7CD9-329B-ABF3-E84B-E5A0D307E4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90E57176-758F-513B-5A50-79930BDBB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246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2CABFAE8-B639-734D-8BE1-DEAAD7DCE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8CFB82FF-4C70-4375-2E01-4BAB23C9E0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C9B0A5F4-5B29-E8E8-B5C0-E8A7C7F32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0458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BF7AC6AB-1F34-77F7-54D8-706388CD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ACD1B115-4BDA-9A80-EA3B-66014421B5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30C3C681-2B13-F792-ED9C-63E81704F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4078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560825"/>
            <a:ext cx="4595700" cy="18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75" y="1007350"/>
            <a:ext cx="22089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713225" y="734725"/>
            <a:ext cx="37374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713225" y="1878000"/>
            <a:ext cx="4337400" cy="25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5806850" y="658413"/>
            <a:ext cx="2623800" cy="3826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0" name="Google Shape;40;p7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7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44" name="Google Shape;44;p8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45;p8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9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" name="Google Shape;50;p9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25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" name="Google Shape;160;p25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6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6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 Medium"/>
              <a:buNone/>
              <a:defRPr sz="28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8" r:id="rId5"/>
    <p:sldLayoutId id="2147483671" r:id="rId6"/>
    <p:sldLayoutId id="2147483672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ctrTitle"/>
          </p:nvPr>
        </p:nvSpPr>
        <p:spPr>
          <a:xfrm>
            <a:off x="713225" y="2560825"/>
            <a:ext cx="7367692" cy="14610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I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MPLEMENTATION OF TRAFFIC SIGNAL CONTROLLER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1166758" y="3875060"/>
            <a:ext cx="6780344" cy="472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200" dirty="0"/>
              <a:t>- </a:t>
            </a:r>
            <a:r>
              <a:rPr lang="en-US" sz="1200" dirty="0"/>
              <a:t>Visualizing Memory Mapped I/O and its Hardware Implementation </a:t>
            </a:r>
            <a:r>
              <a:rPr lang="en-IN" sz="1200" dirty="0"/>
              <a:t>-</a:t>
            </a:r>
            <a:endParaRPr sz="1200" dirty="0"/>
          </a:p>
        </p:txBody>
      </p:sp>
      <p:sp>
        <p:nvSpPr>
          <p:cNvPr id="176" name="Google Shape;176;p30"/>
          <p:cNvSpPr txBox="1"/>
          <p:nvPr/>
        </p:nvSpPr>
        <p:spPr>
          <a:xfrm>
            <a:off x="757829" y="375184"/>
            <a:ext cx="16995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COA PROJECT 2026</a:t>
            </a:r>
            <a:endParaRPr sz="1000" dirty="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482A76-7E38-243F-6F5D-1E4AD1BACA1C}"/>
              </a:ext>
            </a:extLst>
          </p:cNvPr>
          <p:cNvCxnSpPr>
            <a:cxnSpLocks/>
          </p:cNvCxnSpPr>
          <p:nvPr/>
        </p:nvCxnSpPr>
        <p:spPr>
          <a:xfrm>
            <a:off x="2126166" y="539500"/>
            <a:ext cx="18659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6D8A8A-32B4-7723-B47F-3A5539A60E69}"/>
              </a:ext>
            </a:extLst>
          </p:cNvPr>
          <p:cNvCxnSpPr>
            <a:cxnSpLocks/>
          </p:cNvCxnSpPr>
          <p:nvPr/>
        </p:nvCxnSpPr>
        <p:spPr>
          <a:xfrm>
            <a:off x="338367" y="539500"/>
            <a:ext cx="4084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>
            <a:spLocks noGrp="1"/>
          </p:cNvSpPr>
          <p:nvPr>
            <p:ph type="title"/>
          </p:nvPr>
        </p:nvSpPr>
        <p:spPr>
          <a:xfrm>
            <a:off x="713224" y="690121"/>
            <a:ext cx="5204355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INTRODUCTION &amp; OBJECTIVES</a:t>
            </a:r>
            <a:endParaRPr b="1" i="1" dirty="0"/>
          </a:p>
        </p:txBody>
      </p:sp>
      <p:sp>
        <p:nvSpPr>
          <p:cNvPr id="208" name="Google Shape;208;p33"/>
          <p:cNvSpPr txBox="1">
            <a:spLocks noGrp="1"/>
          </p:cNvSpPr>
          <p:nvPr>
            <p:ph type="subTitle" idx="1"/>
          </p:nvPr>
        </p:nvSpPr>
        <p:spPr>
          <a:xfrm>
            <a:off x="906965" y="1878000"/>
            <a:ext cx="7099611" cy="25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just">
              <a:lnSpc>
                <a:spcPct val="150000"/>
              </a:lnSpc>
              <a:buNone/>
            </a:pPr>
            <a:r>
              <a:rPr lang="en-US" dirty="0"/>
              <a:t>The core challenge in studying Computer Organization and Architecture is bridging the gap between static assembly code and the dynamic behavior of the processor. Concepts like the 5-stage pipeline, data hazards, and memory addressing often remain abstract. The objective of this project is to demystify these operations by designing a Traffic Signal Controller using the </a:t>
            </a:r>
            <a:r>
              <a:rPr lang="en-US" b="1" dirty="0" err="1"/>
              <a:t>Ripes</a:t>
            </a:r>
            <a:r>
              <a:rPr lang="en-US" dirty="0"/>
              <a:t> simulator. Unlike standard coding, this project requires direct manipulation of the processor's memory to control peripherals. By simulating a complex Dual-Post intersection, we aim to visualize exactly how a RISC-V processor fetches, decodes, and executes I/O instructions in real-time.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45C9A4-9169-924A-B8F6-63B24882FDCC}"/>
              </a:ext>
            </a:extLst>
          </p:cNvPr>
          <p:cNvCxnSpPr/>
          <p:nvPr/>
        </p:nvCxnSpPr>
        <p:spPr>
          <a:xfrm>
            <a:off x="542693" y="4757854"/>
            <a:ext cx="4460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3339EA8F-E30C-6BC2-7370-D5E5AD2A9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D5A4E8E2-E43D-28D5-5427-450DCE5DEA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690121"/>
            <a:ext cx="721157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b="1" dirty="0"/>
              <a:t>MEMORY MAPPED I/O &amp; PERIPHERAL INEGRATION</a:t>
            </a:r>
            <a:endParaRPr b="1" i="1" dirty="0"/>
          </a:p>
        </p:txBody>
      </p:sp>
      <p:sp>
        <p:nvSpPr>
          <p:cNvPr id="208" name="Google Shape;208;p33">
            <a:extLst>
              <a:ext uri="{FF2B5EF4-FFF2-40B4-BE49-F238E27FC236}">
                <a16:creationId xmlns:a16="http://schemas.microsoft.com/office/drawing/2014/main" id="{C659E820-5C4D-A35E-EAF7-F7A4AC0190B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06965" y="1748821"/>
            <a:ext cx="7144215" cy="26599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The interface between the assembly code and the traffic peripherals was implemented through </a:t>
            </a:r>
            <a:r>
              <a:rPr lang="en-US" b="1" dirty="0"/>
              <a:t>Memory-Mapped I/O (MMIO)</a:t>
            </a:r>
            <a:r>
              <a:rPr lang="en-US" dirty="0"/>
              <a:t>. In this architecture, the processor treats the traffic light hardware as a specific memory address, specifically </a:t>
            </a:r>
            <a:r>
              <a:rPr lang="en-US" b="1" dirty="0"/>
              <a:t>0xF0000000</a:t>
            </a:r>
            <a:r>
              <a:rPr lang="en-US" dirty="0"/>
              <a:t>. The simulation uses a </a:t>
            </a:r>
            <a:r>
              <a:rPr lang="en-US" b="1" dirty="0"/>
              <a:t>1x2 LED Matrix</a:t>
            </a:r>
            <a:r>
              <a:rPr lang="en-US" dirty="0"/>
              <a:t> to represent the intersection. By executing a </a:t>
            </a:r>
            <a:r>
              <a:rPr lang="en-US" dirty="0" err="1"/>
              <a:t>sw</a:t>
            </a:r>
            <a:r>
              <a:rPr lang="en-US" dirty="0"/>
              <a:t> (Store Word) instruction, the processor sends a bitmask—such as 0x01 for Green or 0x04 for Red—directly to this address. This method demonstrates the "Digital Twin" concept, where the virtual environment accurately reflects how a physical CPU would manipulate electrical signals to control real-world infrastructure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76E780-1698-6446-56A9-1D5B4D8C1084}"/>
              </a:ext>
            </a:extLst>
          </p:cNvPr>
          <p:cNvCxnSpPr/>
          <p:nvPr/>
        </p:nvCxnSpPr>
        <p:spPr>
          <a:xfrm>
            <a:off x="542693" y="4757854"/>
            <a:ext cx="4460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86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04D36E3C-8DC9-EF0D-2CF5-01D90A401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B26094E0-F078-2252-BCFF-6BDF1919EE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690121"/>
            <a:ext cx="5754483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IMPLEMENTATION &amp; ASSEMBLY LOGIC</a:t>
            </a:r>
            <a:endParaRPr b="1" i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6D9FDF-AC1B-0C9C-52EA-E8031B6A22D8}"/>
              </a:ext>
            </a:extLst>
          </p:cNvPr>
          <p:cNvCxnSpPr/>
          <p:nvPr/>
        </p:nvCxnSpPr>
        <p:spPr>
          <a:xfrm>
            <a:off x="542693" y="4757854"/>
            <a:ext cx="4460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08;p33">
            <a:extLst>
              <a:ext uri="{FF2B5EF4-FFF2-40B4-BE49-F238E27FC236}">
                <a16:creationId xmlns:a16="http://schemas.microsoft.com/office/drawing/2014/main" id="{2E742D3E-CACC-25CF-B98F-6C65C9BB5C2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06965" y="1878000"/>
            <a:ext cx="7627435" cy="25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The control logic is implemented entirely in RISC-V Assembly language. We designed a state machine that manages a Dual Traffic-Post Intersection. The program utilizes a specific memory offset strategy—using base-plus-offset addressing—to target two distinct clusters of LEDs on the matrix simultaneously. The code is structured into four distinct phases, using a looping mechanism to cycle through Green, Yellow, and Red states. Crucially, we implemented software-based delay loops using subtraction instructions (</a:t>
            </a:r>
            <a:r>
              <a:rPr lang="en-US" dirty="0" err="1"/>
              <a:t>addi</a:t>
            </a:r>
            <a:r>
              <a:rPr lang="en-US" dirty="0"/>
              <a:t>) to synchronize the processor's high-speed execution with human-perceptible timing, ensuring the traffic lights blink at realistic intervals.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7503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9C85-3535-2AB4-295F-5C95FC121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734725"/>
            <a:ext cx="7048024" cy="1058700"/>
          </a:xfrm>
        </p:spPr>
        <p:txBody>
          <a:bodyPr/>
          <a:lstStyle/>
          <a:p>
            <a:r>
              <a:rPr lang="en-US" b="1" dirty="0"/>
              <a:t>ARCHITECTURAL VISUALIZATION: </a:t>
            </a:r>
            <a:br>
              <a:rPr lang="en-US" b="1" dirty="0"/>
            </a:br>
            <a:r>
              <a:rPr lang="en-US" b="1" dirty="0"/>
              <a:t>The 5-Stage Pipeline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B7DB9-BD2E-2DCD-1676-868C4BA19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261" y="2084676"/>
            <a:ext cx="7843477" cy="2530800"/>
          </a:xfrm>
        </p:spPr>
        <p:txBody>
          <a:bodyPr/>
          <a:lstStyle/>
          <a:p>
            <a:r>
              <a:rPr lang="en-US" sz="1400" b="1" dirty="0"/>
              <a:t>IF (Instruction Fetch): </a:t>
            </a:r>
            <a:r>
              <a:rPr lang="en-US" dirty="0"/>
              <a:t>Traffic logic retrieved from instruction memory via Program Counter.</a:t>
            </a:r>
          </a:p>
          <a:p>
            <a:pPr marL="152400" indent="0">
              <a:buNone/>
            </a:pPr>
            <a:endParaRPr lang="en-US" dirty="0"/>
          </a:p>
          <a:p>
            <a:r>
              <a:rPr lang="en-US" sz="1400" b="1" dirty="0"/>
              <a:t>ID (Instruction Decode): </a:t>
            </a:r>
            <a:r>
              <a:rPr lang="en-US" dirty="0"/>
              <a:t>Translating </a:t>
            </a:r>
            <a:r>
              <a:rPr lang="en-US" dirty="0" err="1"/>
              <a:t>sw</a:t>
            </a:r>
            <a:r>
              <a:rPr lang="en-US" dirty="0"/>
              <a:t> and </a:t>
            </a:r>
            <a:r>
              <a:rPr lang="en-US" dirty="0" err="1"/>
              <a:t>addi</a:t>
            </a:r>
            <a:r>
              <a:rPr lang="en-US" dirty="0"/>
              <a:t> instructions while reading register values.</a:t>
            </a:r>
          </a:p>
          <a:p>
            <a:pPr marL="152400" indent="0">
              <a:buNone/>
            </a:pPr>
            <a:endParaRPr lang="en-US" dirty="0"/>
          </a:p>
          <a:p>
            <a:r>
              <a:rPr lang="en-US" sz="1400" b="1" dirty="0"/>
              <a:t>EX (Execute): </a:t>
            </a:r>
            <a:r>
              <a:rPr lang="en-US" dirty="0"/>
              <a:t>ALU calculating timing offsets and decrementing delay counters.</a:t>
            </a:r>
          </a:p>
          <a:p>
            <a:pPr marL="152400" indent="0">
              <a:buNone/>
            </a:pPr>
            <a:endParaRPr lang="en-US" dirty="0"/>
          </a:p>
          <a:p>
            <a:r>
              <a:rPr lang="en-US" sz="1400" b="1" dirty="0"/>
              <a:t>MEM (Memory Access): </a:t>
            </a:r>
            <a:r>
              <a:rPr lang="en-US" dirty="0"/>
              <a:t>The critical stage where the MMIO signal is sent to address 0xF0000000.</a:t>
            </a:r>
          </a:p>
          <a:p>
            <a:pPr marL="152400" indent="0">
              <a:buNone/>
            </a:pPr>
            <a:endParaRPr lang="en-US" dirty="0"/>
          </a:p>
          <a:p>
            <a:r>
              <a:rPr lang="en-US" sz="1400" b="1" dirty="0"/>
              <a:t>WB (Write Back): </a:t>
            </a:r>
            <a:r>
              <a:rPr lang="en-US" dirty="0"/>
              <a:t>Updating registers for the next state transition.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48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8B3DD4E5-C1FA-405A-F364-F798AA9C7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694E5FBE-BCB5-D112-B9C6-5C452D339A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690121"/>
            <a:ext cx="7271049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PIPELINE EXECUTION &amp; ARCHITECTURAL SIMULATION</a:t>
            </a:r>
            <a:endParaRPr lang="en-IN" b="1" i="1" dirty="0"/>
          </a:p>
        </p:txBody>
      </p:sp>
      <p:sp>
        <p:nvSpPr>
          <p:cNvPr id="208" name="Google Shape;208;p33">
            <a:extLst>
              <a:ext uri="{FF2B5EF4-FFF2-40B4-BE49-F238E27FC236}">
                <a16:creationId xmlns:a16="http://schemas.microsoft.com/office/drawing/2014/main" id="{E7DE67E2-407B-495B-0273-B1937B7A1EE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06965" y="1748821"/>
            <a:ext cx="7271048" cy="2704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dirty="0"/>
              <a:t>The core of the simulation was conducted using the </a:t>
            </a:r>
            <a:r>
              <a:rPr lang="en-US" b="1" dirty="0" err="1"/>
              <a:t>Ripes</a:t>
            </a:r>
            <a:r>
              <a:rPr lang="en-US" b="1" dirty="0"/>
              <a:t> RISC-V 5-stage pipeline model</a:t>
            </a:r>
            <a:r>
              <a:rPr lang="en-US" dirty="0"/>
              <a:t>, which allowed for a transparent view of the processor's internal </a:t>
            </a:r>
            <a:r>
              <a:rPr lang="en-US" dirty="0" err="1"/>
              <a:t>datapath</a:t>
            </a:r>
            <a:r>
              <a:rPr lang="en-US" dirty="0"/>
              <a:t>. During execution, the traffic control logic is not processed as a single block but is broken down into five distinct stages: </a:t>
            </a:r>
            <a:r>
              <a:rPr lang="en-US" b="1" dirty="0"/>
              <a:t>Instruction Fetch (IF), Instruction Decode (ID), Execute (EX), Memory Access (MEM), and Write-Back (WB)</a:t>
            </a:r>
            <a:r>
              <a:rPr lang="en-US" dirty="0"/>
              <a:t>. By slowing the simulation clock frequency, we were able to visualize instruction-level parallelism, where a store instruction (</a:t>
            </a:r>
            <a:r>
              <a:rPr lang="en-US" dirty="0" err="1"/>
              <a:t>sw</a:t>
            </a:r>
            <a:r>
              <a:rPr lang="en-US" dirty="0"/>
              <a:t>) updating the traffic light status would occupy the Memory stage while the next delay-loop instruction was already being processed in the Execute stage. This architectural analysis confirms that the traffic system is managed by a high-throughput processor capable of handling multiple instructions simultaneously without data hazards.</a:t>
            </a: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63DED6-E038-298E-E321-57C4EEAA8875}"/>
              </a:ext>
            </a:extLst>
          </p:cNvPr>
          <p:cNvCxnSpPr/>
          <p:nvPr/>
        </p:nvCxnSpPr>
        <p:spPr>
          <a:xfrm>
            <a:off x="542693" y="4757854"/>
            <a:ext cx="4460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600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C7810023-424C-CC7B-743E-CFB871F1C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D43FAE63-E4E8-5FC8-6897-EA984F2759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817755"/>
            <a:ext cx="7271049" cy="931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SIMULATION &amp; PHYSICAL HARDWARE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4E5D61-A98C-0EBA-BF10-3ADCAD72DF8C}"/>
              </a:ext>
            </a:extLst>
          </p:cNvPr>
          <p:cNvCxnSpPr/>
          <p:nvPr/>
        </p:nvCxnSpPr>
        <p:spPr>
          <a:xfrm>
            <a:off x="542693" y="4757854"/>
            <a:ext cx="4460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5">
            <a:extLst>
              <a:ext uri="{FF2B5EF4-FFF2-40B4-BE49-F238E27FC236}">
                <a16:creationId xmlns:a16="http://schemas.microsoft.com/office/drawing/2014/main" id="{54EE42D2-FFCE-4EC9-7E5B-CE7EF3615C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32281" y="1748821"/>
            <a:ext cx="705199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/>
              <a:t>To validate the simulation in a real-world context, a physical hardware mirror was developed using an </a:t>
            </a:r>
            <a:r>
              <a:rPr lang="en-US" sz="1400" b="1" dirty="0"/>
              <a:t>Arduino-based microcontroller</a:t>
            </a:r>
            <a:r>
              <a:rPr lang="en-US" sz="1400" dirty="0"/>
              <a:t>. The system functioned as a "Digital Twin," where the state changes observed in the </a:t>
            </a:r>
            <a:r>
              <a:rPr lang="en-US" sz="1400" dirty="0" err="1"/>
              <a:t>Ripes</a:t>
            </a:r>
            <a:r>
              <a:rPr lang="en-US" sz="1400" dirty="0"/>
              <a:t> pipeline were transmitted via serial communication to the physical LEDs. Because the RISC-V processor operates at significantly higher frequencies than human-readable traffic cycles, </a:t>
            </a:r>
            <a:r>
              <a:rPr lang="en-US" sz="1400" b="1" dirty="0"/>
              <a:t>software-based delay loops</a:t>
            </a:r>
            <a:r>
              <a:rPr lang="en-US" sz="1400" dirty="0"/>
              <a:t> were implemented using subtraction and branch instructions. These loops effectively synchronized the high-speed execution of the 5-stage pipeline with the physical requirements of a traffic system, ensuring that each signal phase remained stable for the designated duration before the next instruction was retired in the pipeline.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24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3BD85FD8-079A-8657-4EE7-718A46E1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D8CD9C30-5C70-9D5B-B79E-0C2E5A26C1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817755"/>
            <a:ext cx="7271049" cy="931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SIMULATION RESULTS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20B908-8F5F-E6CC-EF01-C031E19CEE10}"/>
              </a:ext>
            </a:extLst>
          </p:cNvPr>
          <p:cNvCxnSpPr/>
          <p:nvPr/>
        </p:nvCxnSpPr>
        <p:spPr>
          <a:xfrm>
            <a:off x="542693" y="4757854"/>
            <a:ext cx="4460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9E71E94-61B1-876B-308A-CBA2B31B6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12" y="1584305"/>
            <a:ext cx="4015581" cy="20033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926C48-D3E5-6F56-89B8-9D2647928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180" y="1555877"/>
            <a:ext cx="3132732" cy="203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40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BB41A052-BEA1-C19E-49E4-5158C235A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8D557CD4-61C8-67EB-B894-395A0B438E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690121"/>
            <a:ext cx="7271049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TIMING CALIBRATION &amp; PHYSICAL HARDWARE MIRRORING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D98E42-A016-EAA3-D3C5-A116FD909887}"/>
              </a:ext>
            </a:extLst>
          </p:cNvPr>
          <p:cNvCxnSpPr/>
          <p:nvPr/>
        </p:nvCxnSpPr>
        <p:spPr>
          <a:xfrm>
            <a:off x="542693" y="4757854"/>
            <a:ext cx="4460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5">
            <a:extLst>
              <a:ext uri="{FF2B5EF4-FFF2-40B4-BE49-F238E27FC236}">
                <a16:creationId xmlns:a16="http://schemas.microsoft.com/office/drawing/2014/main" id="{78595735-FB3B-7E5F-022D-BE5345ECBC9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32281" y="1912373"/>
            <a:ext cx="705199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/>
              <a:t>To ensure the simulation results were applicable to real-world scenarios, the project integrated </a:t>
            </a:r>
            <a:r>
              <a:rPr lang="en-US" sz="1400" b="1" dirty="0"/>
              <a:t>physical hardware mirroring</a:t>
            </a:r>
            <a:r>
              <a:rPr lang="en-US" sz="1400" dirty="0"/>
              <a:t> via an Arduino microcontroller. Because the RISC-V pipeline operates at speeds far exceeding human perception, </a:t>
            </a:r>
            <a:r>
              <a:rPr lang="en-US" sz="1400" b="1" dirty="0"/>
              <a:t>software-based delay loops</a:t>
            </a:r>
            <a:r>
              <a:rPr lang="en-US" sz="1400" dirty="0"/>
              <a:t> were designed using subtraction and branch logic. These loops effectively "pause" the state machine by forcing the processor to execute a set number of cycles before transitioning the light phase. This synchronization ensures that the timing observed in the </a:t>
            </a:r>
            <a:r>
              <a:rPr lang="en-US" sz="1400" dirty="0" err="1"/>
              <a:t>Ripes</a:t>
            </a:r>
            <a:r>
              <a:rPr lang="en-US" sz="1400" dirty="0"/>
              <a:t> simulator perfectly matches the physical LED transitions on the hardware. This dual-layer approach—combining virtual pipeline analysis with physical verification—validates the system’s reliability as a functional traffic signal controller.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865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DCBACAED-565E-6A48-D5B3-62F4953FD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8390C038-C71C-972E-087D-C945A0BE33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690121"/>
            <a:ext cx="5204355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CONCLUSION</a:t>
            </a:r>
            <a:endParaRPr b="1" i="1" dirty="0"/>
          </a:p>
        </p:txBody>
      </p:sp>
      <p:sp>
        <p:nvSpPr>
          <p:cNvPr id="208" name="Google Shape;208;p33">
            <a:extLst>
              <a:ext uri="{FF2B5EF4-FFF2-40B4-BE49-F238E27FC236}">
                <a16:creationId xmlns:a16="http://schemas.microsoft.com/office/drawing/2014/main" id="{42B1C404-FA32-98E8-5CB3-58EEBF819E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06965" y="1419923"/>
            <a:ext cx="7657172" cy="1970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150"/>
              </a:spcAft>
              <a:buNone/>
            </a:pPr>
            <a:r>
              <a:rPr lang="en-US" sz="1100" dirty="0"/>
              <a:t>The implementation of the Traffic Signal Controller demonstrates a seamless integration of RISC-V assembly and a </a:t>
            </a:r>
            <a:r>
              <a:rPr lang="en-US" sz="1100" b="1" dirty="0"/>
              <a:t>5-stage pipelined architecture</a:t>
            </a:r>
            <a:r>
              <a:rPr lang="en-US" sz="1100" dirty="0"/>
              <a:t>, providing a transparent view of the instruction lifecycle through the </a:t>
            </a:r>
            <a:r>
              <a:rPr lang="en-US" sz="1100" b="1" dirty="0"/>
              <a:t>Fetch, Decode, Execute, Memory, and Write-back</a:t>
            </a:r>
            <a:r>
              <a:rPr lang="en-US" sz="1100" dirty="0"/>
              <a:t> stages. By utilizing </a:t>
            </a:r>
            <a:r>
              <a:rPr lang="en-US" sz="1100" b="1" dirty="0"/>
              <a:t>Memory-Mapped I/O (MMIO)</a:t>
            </a:r>
            <a:r>
              <a:rPr lang="en-US" sz="1100" dirty="0"/>
              <a:t> at address </a:t>
            </a:r>
            <a:r>
              <a:rPr lang="en-US" sz="1100" b="1" dirty="0"/>
              <a:t>0xF0000000</a:t>
            </a:r>
            <a:r>
              <a:rPr lang="en-US" sz="1100" dirty="0"/>
              <a:t>, the software successfully controls a simulated 1x2 LED Matrix, where each </a:t>
            </a:r>
            <a:r>
              <a:rPr lang="en-US" dirty="0" err="1"/>
              <a:t>sw</a:t>
            </a:r>
            <a:r>
              <a:rPr lang="en-US" sz="1100" dirty="0"/>
              <a:t> (store word) instruction acts as a direct link between the processor’s </a:t>
            </a:r>
            <a:r>
              <a:rPr lang="en-US" sz="1100" dirty="0" err="1"/>
              <a:t>datapath</a:t>
            </a:r>
            <a:r>
              <a:rPr lang="en-US" sz="1100" dirty="0"/>
              <a:t> and hardware state changes. To bridge the gap between high-speed simulation and human perception, software-based delay loops were calibrated to slow execution to real-time intervals, effectively creating a </a:t>
            </a:r>
            <a:r>
              <a:rPr lang="en-US" sz="1100" b="1" dirty="0"/>
              <a:t>"Digital Twin"</a:t>
            </a:r>
            <a:r>
              <a:rPr lang="en-US" sz="1100" dirty="0"/>
              <a:t> model where the virtual </a:t>
            </a:r>
            <a:r>
              <a:rPr lang="en-US" sz="1100" dirty="0" err="1"/>
              <a:t>Ripes</a:t>
            </a:r>
            <a:r>
              <a:rPr lang="en-US" sz="1100" dirty="0"/>
              <a:t> environment and the physical Arduino-based hardware remain perfectly synchronized.</a:t>
            </a:r>
            <a:endParaRPr lang="en-US" sz="900" dirty="0">
              <a:latin typeface="Arial Black" panose="020B0A04020102020204" pitchFamily="34" charset="0"/>
              <a:cs typeface="Cascadia Mono SemiBold" panose="020B06090200000200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900" dirty="0">
              <a:latin typeface="Arial Black" panose="020B0A04020102020204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1A3FA2-E89F-4149-F4DA-5A0D49186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428" y="4185348"/>
            <a:ext cx="632645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Kashinath R Krishna - Kannan Ramanan - Jeevan Krishnan - Arjun Prasad - Devananda </a:t>
            </a:r>
            <a:r>
              <a:rPr lang="en-US" altLang="en-US" sz="1000" dirty="0">
                <a:solidFill>
                  <a:schemeClr val="tx1"/>
                </a:solidFill>
                <a:latin typeface="Gill Sans MT" panose="020B0502020104020203" pitchFamily="34" charset="0"/>
              </a:rPr>
              <a:t>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 - Neehara Anil KK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4F398D-658D-0AA8-ADD5-4974A6E20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756" y="4193303"/>
            <a:ext cx="141992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900" dirty="0">
                <a:solidFill>
                  <a:schemeClr val="tx1"/>
                </a:solidFill>
                <a:latin typeface="DM Sans Medium" pitchFamily="2" charset="0"/>
              </a:rPr>
              <a:t>- </a:t>
            </a:r>
            <a:r>
              <a:rPr lang="en-US" altLang="en-US" sz="9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TEAM</a:t>
            </a:r>
            <a:r>
              <a:rPr lang="en-US" altLang="en-US" sz="9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MEMBERS -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B0FBE5-0B16-EA84-392A-46C6591B1A5B}"/>
              </a:ext>
            </a:extLst>
          </p:cNvPr>
          <p:cNvCxnSpPr/>
          <p:nvPr/>
        </p:nvCxnSpPr>
        <p:spPr>
          <a:xfrm>
            <a:off x="542693" y="4757854"/>
            <a:ext cx="4460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4C8A58-502F-00ED-66CD-DB479CC6824E}"/>
              </a:ext>
            </a:extLst>
          </p:cNvPr>
          <p:cNvSpPr txBox="1"/>
          <p:nvPr/>
        </p:nvSpPr>
        <p:spPr>
          <a:xfrm>
            <a:off x="817756" y="3954515"/>
            <a:ext cx="1918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 Black" panose="020B0A04020102020204" pitchFamily="34" charset="0"/>
                <a:cs typeface="Cascadia Mono SemiBold" panose="020B0609020000020004" pitchFamily="49" charset="0"/>
              </a:rPr>
              <a:t>THANK YOU!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904134"/>
      </p:ext>
    </p:extLst>
  </p:cSld>
  <p:clrMapOvr>
    <a:masterClrMapping/>
  </p:clrMapOvr>
</p:sld>
</file>

<file path=ppt/theme/theme1.xml><?xml version="1.0" encoding="utf-8"?>
<a:theme xmlns:a="http://schemas.openxmlformats.org/drawingml/2006/main" name="Formal and Professional Portfolio by Slidesgo">
  <a:themeElements>
    <a:clrScheme name="Simple Light">
      <a:dk1>
        <a:srgbClr val="333333"/>
      </a:dk1>
      <a:lt1>
        <a:srgbClr val="F7F4F1"/>
      </a:lt1>
      <a:dk2>
        <a:srgbClr val="444444"/>
      </a:dk2>
      <a:lt2>
        <a:srgbClr val="555555"/>
      </a:lt2>
      <a:accent1>
        <a:srgbClr val="66666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988</Words>
  <Application>Microsoft Office PowerPoint</Application>
  <PresentationFormat>On-screen Show (16:9)</PresentationFormat>
  <Paragraphs>31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DM Sans Medium</vt:lpstr>
      <vt:lpstr>Arial Black</vt:lpstr>
      <vt:lpstr>DM Sans</vt:lpstr>
      <vt:lpstr>Playfair Display Medium</vt:lpstr>
      <vt:lpstr>Gill Sans MT</vt:lpstr>
      <vt:lpstr>Segoe UI Black</vt:lpstr>
      <vt:lpstr>Arial</vt:lpstr>
      <vt:lpstr>Microsoft YaHei</vt:lpstr>
      <vt:lpstr>Formal and Professional Portfolio by Slidesgo</vt:lpstr>
      <vt:lpstr>IMPLEMENTATION OF TRAFFIC SIGNAL CONTROLLER</vt:lpstr>
      <vt:lpstr>INTRODUCTION &amp; OBJECTIVES</vt:lpstr>
      <vt:lpstr>MEMORY MAPPED I/O &amp; PERIPHERAL INEGRATION</vt:lpstr>
      <vt:lpstr>IMPLEMENTATION &amp; ASSEMBLY LOGIC</vt:lpstr>
      <vt:lpstr>ARCHITECTURAL VISUALIZATION:  The 5-Stage Pipeline</vt:lpstr>
      <vt:lpstr>PIPELINE EXECUTION &amp; ARCHITECTURAL SIMULATION</vt:lpstr>
      <vt:lpstr>SIMULATION &amp; PHYSICAL HARDWARE</vt:lpstr>
      <vt:lpstr>SIMULATION RESULTS</vt:lpstr>
      <vt:lpstr>TIMING CALIBRATION &amp; PHYSICAL HARDWARE MIRRORING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Aiswarya</dc:creator>
  <cp:lastModifiedBy>prasadaishwarya02@outlook.com</cp:lastModifiedBy>
  <cp:revision>9</cp:revision>
  <dcterms:modified xsi:type="dcterms:W3CDTF">2026-03-16T15:13:17Z</dcterms:modified>
</cp:coreProperties>
</file>